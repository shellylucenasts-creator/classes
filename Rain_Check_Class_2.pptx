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1fa2b802a44544" /><Relationship Type="http://schemas.openxmlformats.org/officeDocument/2006/relationships/extended-properties" Target="/docProps/app.xml" Id="R4f64b1ae1bf94311" /><Relationship Type="http://schemas.openxmlformats.org/officeDocument/2006/relationships/officeDocument" Target="/ppt/presentation.xml" Id="R05495cb761cd4f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bdd1bb605744cc"/>
  </p:sldMasterIdLst>
  <p:notesMasterIdLst>
    <p:notesMasterId xmlns:r="http://schemas.openxmlformats.org/officeDocument/2006/relationships" r:id="R1f9fb4bbb1bf4289"/>
  </p:notesMasterIdLst>
  <p:sldIdLst>
    <p:sldId xmlns:r="http://schemas.openxmlformats.org/officeDocument/2006/relationships" id="256" r:id="R1ac107c01f054776"/>
    <p:sldId xmlns:r="http://schemas.openxmlformats.org/officeDocument/2006/relationships" id="257" r:id="R981cce25806043fb"/>
    <p:sldId xmlns:r="http://schemas.openxmlformats.org/officeDocument/2006/relationships" id="258" r:id="Rba3c96a752c146a4"/>
    <p:sldId xmlns:r="http://schemas.openxmlformats.org/officeDocument/2006/relationships" id="259" r:id="R8e04e33525224373"/>
    <p:sldId xmlns:r="http://schemas.openxmlformats.org/officeDocument/2006/relationships" id="260" r:id="Rf4664d3596a5445a"/>
    <p:sldId xmlns:r="http://schemas.openxmlformats.org/officeDocument/2006/relationships" id="261" r:id="R0b49e005f5544d81"/>
    <p:sldId xmlns:r="http://schemas.openxmlformats.org/officeDocument/2006/relationships" id="262" r:id="Rdf5c769ff89a453b"/>
    <p:sldId xmlns:r="http://schemas.openxmlformats.org/officeDocument/2006/relationships" id="263" r:id="R8a3a7e4561f94f30"/>
    <p:sldId xmlns:r="http://schemas.openxmlformats.org/officeDocument/2006/relationships" id="264" r:id="Rf409343d30ab4a8a"/>
    <p:sldId xmlns:r="http://schemas.openxmlformats.org/officeDocument/2006/relationships" id="265" r:id="R26576bd813714473"/>
    <p:sldId xmlns:r="http://schemas.openxmlformats.org/officeDocument/2006/relationships" id="266" r:id="R9b01c717de344d51"/>
    <p:sldId xmlns:r="http://schemas.openxmlformats.org/officeDocument/2006/relationships" id="267" r:id="Ra008096897f84f8d"/>
    <p:sldId xmlns:r="http://schemas.openxmlformats.org/officeDocument/2006/relationships" id="268" r:id="R5c1f6062cd284c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ccec8216f5461c" /><Relationship Type="http://schemas.openxmlformats.org/officeDocument/2006/relationships/slideMaster" Target="/ppt/slideMasters/slideMaster1.xml" Id="R81bdd1bb605744cc" /><Relationship Type="http://schemas.openxmlformats.org/officeDocument/2006/relationships/notesMaster" Target="/ppt/notesMasters/notesMaster1.xml" Id="R1f9fb4bbb1bf4289" /><Relationship Type="http://schemas.openxmlformats.org/officeDocument/2006/relationships/presProps" Target="/ppt/presProps.xml" Id="R05baf3865f234039" /><Relationship Type="http://schemas.openxmlformats.org/officeDocument/2006/relationships/tableStyles" Target="/ppt/tableStyles.xml" Id="R9145c0464e454bf4" /><Relationship Type="http://schemas.openxmlformats.org/officeDocument/2006/relationships/slide" Target="/ppt/slides/slide1.xml" Id="R1ac107c01f054776" /><Relationship Type="http://schemas.openxmlformats.org/officeDocument/2006/relationships/slide" Target="/ppt/slides/slide2.xml" Id="R981cce25806043fb" /><Relationship Type="http://schemas.openxmlformats.org/officeDocument/2006/relationships/slide" Target="/ppt/slides/slide3.xml" Id="Rba3c96a752c146a4" /><Relationship Type="http://schemas.openxmlformats.org/officeDocument/2006/relationships/slide" Target="/ppt/slides/slide4.xml" Id="R8e04e33525224373" /><Relationship Type="http://schemas.openxmlformats.org/officeDocument/2006/relationships/slide" Target="/ppt/slides/slide5.xml" Id="Rf4664d3596a5445a" /><Relationship Type="http://schemas.openxmlformats.org/officeDocument/2006/relationships/slide" Target="/ppt/slides/slide6.xml" Id="R0b49e005f5544d81" /><Relationship Type="http://schemas.openxmlformats.org/officeDocument/2006/relationships/slide" Target="/ppt/slides/slide7.xml" Id="Rdf5c769ff89a453b" /><Relationship Type="http://schemas.openxmlformats.org/officeDocument/2006/relationships/slide" Target="/ppt/slides/slide8.xml" Id="R8a3a7e4561f94f30" /><Relationship Type="http://schemas.openxmlformats.org/officeDocument/2006/relationships/slide" Target="/ppt/slides/slide9.xml" Id="Rf409343d30ab4a8a" /><Relationship Type="http://schemas.openxmlformats.org/officeDocument/2006/relationships/slide" Target="/ppt/slides/slide10.xml" Id="R26576bd813714473" /><Relationship Type="http://schemas.openxmlformats.org/officeDocument/2006/relationships/slide" Target="/ppt/slides/slide11.xml" Id="R9b01c717de344d51" /><Relationship Type="http://schemas.openxmlformats.org/officeDocument/2006/relationships/slide" Target="/ppt/slides/slide12.xml" Id="Ra008096897f84f8d" /><Relationship Type="http://schemas.openxmlformats.org/officeDocument/2006/relationships/slide" Target="/ppt/slides/slide13.xml" Id="R5c1f6062cd284c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1373a1f33546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d9f7920bb8485c" /><Relationship Type="http://schemas.openxmlformats.org/officeDocument/2006/relationships/notesMaster" Target="/ppt/notesMasters/notesMaster1.xml" Id="R46499d3d34e94d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4d66c6d6d64a45" /><Relationship Type="http://schemas.openxmlformats.org/officeDocument/2006/relationships/notesMaster" Target="/ppt/notesMasters/notesMaster1.xml" Id="Rdcc3980a15c946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41c3ecfc714c2f" /><Relationship Type="http://schemas.openxmlformats.org/officeDocument/2006/relationships/notesMaster" Target="/ppt/notesMasters/notesMaster1.xml" Id="R8dc2915b257e43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6f0b841c814842" /><Relationship Type="http://schemas.openxmlformats.org/officeDocument/2006/relationships/notesMaster" Target="/ppt/notesMasters/notesMaster1.xml" Id="R33607771f8ac43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b441ba84e9478b" /><Relationship Type="http://schemas.openxmlformats.org/officeDocument/2006/relationships/notesMaster" Target="/ppt/notesMasters/notesMaster1.xml" Id="Raee913e557e445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5f2a9f4b374adf" /><Relationship Type="http://schemas.openxmlformats.org/officeDocument/2006/relationships/notesMaster" Target="/ppt/notesMasters/notesMaster1.xml" Id="Rb0cf4ab0b83547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31322412d94f8e" /><Relationship Type="http://schemas.openxmlformats.org/officeDocument/2006/relationships/notesMaster" Target="/ppt/notesMasters/notesMaster1.xml" Id="R1eff893bc3044b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78252a179f4c52" /><Relationship Type="http://schemas.openxmlformats.org/officeDocument/2006/relationships/notesMaster" Target="/ppt/notesMasters/notesMaster1.xml" Id="R56f8fff74c964c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147b6a993e447b" /><Relationship Type="http://schemas.openxmlformats.org/officeDocument/2006/relationships/notesMaster" Target="/ppt/notesMasters/notesMaster1.xml" Id="R2005813169e244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e0fc5d4c844553" /><Relationship Type="http://schemas.openxmlformats.org/officeDocument/2006/relationships/notesMaster" Target="/ppt/notesMasters/notesMaster1.xml" Id="R27715f93d4e846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adf3877e604d05" /><Relationship Type="http://schemas.openxmlformats.org/officeDocument/2006/relationships/notesMaster" Target="/ppt/notesMasters/notesMaster1.xml" Id="Rc61ed327174f41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d735dec98b4453" /><Relationship Type="http://schemas.openxmlformats.org/officeDocument/2006/relationships/notesMaster" Target="/ppt/notesMasters/notesMaster1.xml" Id="Rfde02be20f5e4e2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ac63ddd4f084c16" /><Relationship Type="http://schemas.openxmlformats.org/officeDocument/2006/relationships/notesMaster" Target="/ppt/notesMasters/notesMaster1.xml" Id="R2329e1f7977746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9eff37d22841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79ba2f9cac45d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dfe487ac304a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ec5e848a3d46e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a01fd3587d47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00cc70883744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14BF12-483C-4704-A1D5-C34F20EC39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9258A00-1D26-441D-B76B-29369D556D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0CAFA07-70D6-40CB-B69E-CCEC5B381C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120AEC-1154-4634-841F-43C3DBFA3F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212CDC4-2E5C-4E93-89B6-44C13E958D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722447A-3ADB-483B-A097-C91D4174D6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6516DE-AEB5-4A4F-BB08-139F19B1A6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8EBA518-C59E-49AC-A1CF-9D6AAAD0DC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405F72-A582-4EBA-984B-1EB54C9EEF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A24EE1-F7BE-4655-8E8A-96E95C6A9D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bba4f74ff043ee" /><Relationship Type="http://schemas.openxmlformats.org/officeDocument/2006/relationships/slideLayout" Target="/ppt/slideLayouts/slideLayout1.xml" Id="R4c59667cc23b4a18" /><Relationship Type="http://schemas.openxmlformats.org/officeDocument/2006/relationships/slideLayout" Target="/ppt/slideLayouts/slideLayout2.xml" Id="R485207d447db4210" /><Relationship Type="http://schemas.openxmlformats.org/officeDocument/2006/relationships/slideLayout" Target="/ppt/slideLayouts/slideLayout3.xml" Id="R5074f213e5274016" /><Relationship Type="http://schemas.openxmlformats.org/officeDocument/2006/relationships/slideLayout" Target="/ppt/slideLayouts/slideLayout4.xml" Id="R1936d3da6039428f" /><Relationship Type="http://schemas.openxmlformats.org/officeDocument/2006/relationships/slideLayout" Target="/ppt/slideLayouts/slideLayout5.xml" Id="R217a43e1f27047ee" /><Relationship Type="http://schemas.openxmlformats.org/officeDocument/2006/relationships/slideLayout" Target="/ppt/slideLayouts/slideLayout6.xml" Id="R129b045354784a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59667cc23b4a18"/>
    <p:sldLayoutId xmlns:r="http://schemas.openxmlformats.org/officeDocument/2006/relationships" id="2147483650" r:id="R485207d447db4210"/>
    <p:sldLayoutId xmlns:r="http://schemas.openxmlformats.org/officeDocument/2006/relationships" id="2147483651" r:id="R5074f213e5274016"/>
    <p:sldLayoutId xmlns:r="http://schemas.openxmlformats.org/officeDocument/2006/relationships" id="2147483652" r:id="R1936d3da6039428f"/>
    <p:sldLayoutId xmlns:r="http://schemas.openxmlformats.org/officeDocument/2006/relationships" id="2147483653" r:id="R217a43e1f27047ee"/>
    <p:sldLayoutId xmlns:r="http://schemas.openxmlformats.org/officeDocument/2006/relationships" id="2147483654" r:id="R129b045354784a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04715526fe4439" /><Relationship Type="http://schemas.openxmlformats.org/officeDocument/2006/relationships/image" Target="/ppt/media/image.png" Id="Rf0a2da40392a4b23" /><Relationship Type="http://schemas.openxmlformats.org/officeDocument/2006/relationships/notesSlide" Target="/ppt/notesSlides/notesSlide1.xml" Id="R0d3e6a1d622a43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666112596c4a5e" /><Relationship Type="http://schemas.openxmlformats.org/officeDocument/2006/relationships/image" Target="/ppt/media/image2.png" Id="R220fb66a3a3549e7" /><Relationship Type="http://schemas.openxmlformats.org/officeDocument/2006/relationships/notesSlide" Target="/ppt/notesSlides/notesSlide2.xml" Id="R02d2b47603464a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a125a341114cef" /><Relationship Type="http://schemas.openxmlformats.org/officeDocument/2006/relationships/notesSlide" Target="/ppt/notesSlides/notesSlide3.xml" Id="R640b653741d24c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407652d8c84135" /><Relationship Type="http://schemas.openxmlformats.org/officeDocument/2006/relationships/image" Target="/ppt/media/image3.png" Id="Rff3468d1a25641ab" /><Relationship Type="http://schemas.openxmlformats.org/officeDocument/2006/relationships/notesSlide" Target="/ppt/notesSlides/notesSlide4.xml" Id="Rf972f3c5823745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29555543554fde" /><Relationship Type="http://schemas.openxmlformats.org/officeDocument/2006/relationships/image" Target="/ppt/media/image4.png" Id="Rd9243b75b1bb4608" /><Relationship Type="http://schemas.openxmlformats.org/officeDocument/2006/relationships/notesSlide" Target="/ppt/notesSlides/notesSlide5.xml" Id="R2db7aa37cc6945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fe68e3789e4af2" /><Relationship Type="http://schemas.openxmlformats.org/officeDocument/2006/relationships/notesSlide" Target="/ppt/notesSlides/notesSlide6.xml" Id="R05aa8938c55a4e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58b7f085684cf0" /><Relationship Type="http://schemas.openxmlformats.org/officeDocument/2006/relationships/notesSlide" Target="/ppt/notesSlides/notesSlide7.xml" Id="Ra8b2ffa5e2af41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fb36fd98e44bc8" /><Relationship Type="http://schemas.openxmlformats.org/officeDocument/2006/relationships/notesSlide" Target="/ppt/notesSlides/notesSlide8.xml" Id="Rff261fd0859f48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9757a8f42d4677" /><Relationship Type="http://schemas.openxmlformats.org/officeDocument/2006/relationships/notesSlide" Target="/ppt/notesSlides/notesSlide9.xml" Id="R6d5bb143d3d44c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bf9eab8c1547bb" /><Relationship Type="http://schemas.openxmlformats.org/officeDocument/2006/relationships/notesSlide" Target="/ppt/notesSlides/notesSlide10.xml" Id="R7ec9a420a8454e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c20de9803b4936" /><Relationship Type="http://schemas.openxmlformats.org/officeDocument/2006/relationships/notesSlide" Target="/ppt/notesSlides/notesSlide11.xml" Id="R1c913d8c14eb4d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2105ac03f249bd" /><Relationship Type="http://schemas.openxmlformats.org/officeDocument/2006/relationships/notesSlide" Target="/ppt/notesSlides/notesSlide12.xml" Id="R87755b6bbc714c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aff15c60fc4ca6" /><Relationship Type="http://schemas.openxmlformats.org/officeDocument/2006/relationships/notesSlide" Target="/ppt/notesSlides/notesSlide13.xml" Id="R2baebbac75ea48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5091C-984F-433C-A8EE-F20CBB3A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200" b="1">
                <a:solidFill>
                  <a:srgbClr val="572C1C"/>
                </a:solidFill>
                <a:latin typeface="Nunito"/>
                <a:ea typeface="Nunito"/>
                <a:cs typeface="Nunito"/>
              </a:rPr>
              <a:t>RAIN CHECK / CLASS 2 / B1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CB473-F5A0-484B-9FB7-72D96A48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676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572C1C"/>
                </a:solidFill>
                <a:latin typeface="Fredoka"/>
                <a:ea typeface="Fredoka"/>
                <a:cs typeface="Fredoka"/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572C1C"/>
                </a:solidFill>
                <a:latin typeface="Fredoka"/>
                <a:ea typeface="Fredoka"/>
                <a:cs typeface="Fredoka"/>
              </a:defRPr>
            </a:pPr>
            <a:r>
              <a:rPr sz="5400" b="1">
                <a:solidFill>
                  <a:srgbClr val="572C1C"/>
                </a:solidFill>
                <a:latin typeface="Fredoka"/>
                <a:ea typeface="Fredoka"/>
                <a:cs typeface="Fredoka"/>
              </a:rPr>
              <a:t>Can we take</a:t>
            </a:r>
          </a:p>
          <a:p xmlns:a="http://schemas.openxmlformats.org/drawingml/2006/main">
            <a:pPr>
              <a:defRPr sz="5400" b="1">
                <a:solidFill>
                  <a:srgbClr val="572C1C"/>
                </a:solidFill>
                <a:latin typeface="Fredoka"/>
                <a:ea typeface="Fredoka"/>
                <a:cs typeface="Fredoka"/>
              </a:defRPr>
            </a:pPr>
            <a:r>
              <a:rPr sz="5400" b="1">
                <a:solidFill>
                  <a:srgbClr val="572C1C"/>
                </a:solidFill>
                <a:latin typeface="Fredoka"/>
                <a:ea typeface="Fredoka"/>
                <a:cs typeface="Fredoka"/>
              </a:rPr>
              <a:t>a rain check?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A7602-3284-4992-8A7C-650AA50F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8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Plans change. What would you say?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B225A-208D-4FFB-ACC6-D7411DDE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pPr>
            <a:r>
              <a:rPr sz="1800" b="0">
                <a:solidFill>
                  <a:srgbClr val="1C1A19"/>
                </a:solidFill>
                <a:latin typeface="Nunito"/>
                <a:ea typeface="Nunito"/>
                <a:cs typeface="Nunito"/>
              </a:rPr>
              <a:t>I can politely decline an invitation, explain a scheduling conflict, and suggest another time.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860E7-ED28-4981-93F6-C8CB9F72F3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2da40392a4b23"/>
          <a:srcRect xmlns:a="http://schemas.openxmlformats.org/drawingml/2006/main" l="0" t="7632" r="0" b="76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1381125"/>
            <a:ext cx="3962400" cy="4476750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</p:spTree>
    <p:extLst>
      <p:ext uri="{BB962C8B-B14F-4D97-AF65-F5344CB8AC3E}">
        <p14:creationId xmlns:p14="http://schemas.microsoft.com/office/powerpoint/2010/main" val="8587496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40FF8-A4A5-40D9-B49F-4DBE2884BA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fb66a3a3549e7"/>
          <a:stretch xmlns:a="http://schemas.openxmlformats.org/drawingml/2006/main"/>
        </p:blipFill>
        <p:spPr>
          <a:xfrm xmlns:a="http://schemas.openxmlformats.org/drawingml/2006/main">
            <a:off x="2090225" y="238125"/>
            <a:ext cx="8011551" cy="6381750"/>
          </a:xfrm>
          <a:prstGeom xmlns:a="http://schemas.openxmlformats.org/drawingml/2006/main" prst="roundRect">
            <a:avLst>
              <a:gd name="adj" fmla="val 1791"/>
            </a:avLst>
          </a:prstGeom>
        </p:spPr>
      </p:pic>
    </p:spTree>
    <p:extLst>
      <p:ext uri="{BB962C8B-B14F-4D97-AF65-F5344CB8AC3E}">
        <p14:creationId xmlns:p14="http://schemas.microsoft.com/office/powerpoint/2010/main" val="13911847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70C762-611C-4048-BA70-B280100B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200" b="1">
                <a:solidFill>
                  <a:srgbClr val="572C1C"/>
                </a:solidFill>
                <a:latin typeface="Nunito"/>
                <a:ea typeface="Nunito"/>
                <a:cs typeface="Nunito"/>
              </a:rPr>
              <a:t>LANGUAGE IN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97B46-876C-4ED7-8011-2B0DD728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572C1C"/>
                </a:solidFill>
                <a:latin typeface="Fredoka"/>
                <a:ea typeface="Fredoka"/>
                <a:cs typeface="Fredoka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572C1C"/>
                </a:solidFill>
                <a:latin typeface="Fredoka"/>
                <a:ea typeface="Fredoka"/>
                <a:cs typeface="Fredoka"/>
              </a:defRPr>
            </a:pPr>
            <a:r>
              <a:rPr sz="4500" b="1">
                <a:solidFill>
                  <a:srgbClr val="572C1C"/>
                </a:solidFill>
                <a:latin typeface="Fredoka"/>
                <a:ea typeface="Fredoka"/>
                <a:cs typeface="Fredoka"/>
              </a:rPr>
              <a:t>Something came up!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F784E-23C3-410B-A451-747CC359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2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03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DCC2F-A213-46A6-ADB2-F73476AA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5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Alex is preparing for his vacation, but his schedule keeps changing.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73314-4EAE-49E9-8DDC-118ED40D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3909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500" b="1">
                <a:solidFill>
                  <a:srgbClr val="572C1C"/>
                </a:solidFill>
                <a:latin typeface="Nunito"/>
                <a:ea typeface="Nunito"/>
                <a:cs typeface="Nunito"/>
              </a:rPr>
              <a:t>Maya Chen  /  Project meeting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A5EC5-757B-476E-B946-926EE170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31623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pPr>
            <a:r>
              <a:rPr sz="1875" b="0">
                <a:solidFill>
                  <a:srgbClr val="1C1A19"/>
                </a:solidFill>
                <a:latin typeface="Nunito"/>
                <a:ea typeface="Nunito"/>
                <a:cs typeface="Nunito"/>
              </a:rPr>
              <a:t>Hi Alex,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pPr>
            <a:r>
              <a:rPr sz="1875" b="0">
                <a:solidFill>
                  <a:srgbClr val="1C1A19"/>
                </a:solidFill>
                <a:latin typeface="Nunito"/>
                <a:ea typeface="Nunito"/>
                <a:cs typeface="Nunito"/>
              </a:rPr>
              <a:t>Something urgent came up, and I won't be able to make our Tuesday meeting. Could we move it to Wednesday?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3602D-518D-4994-A747-815A1E8E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38375"/>
            <a:ext cx="33909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500" b="1">
                <a:solidFill>
                  <a:srgbClr val="572C1C"/>
                </a:solidFill>
                <a:latin typeface="Nunito"/>
                <a:ea typeface="Nunito"/>
                <a:cs typeface="Nunito"/>
              </a:rPr>
              <a:t>Daniel Park  /  Dinner plans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C27E3-9A63-4391-A531-E58EEB65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31623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pPr>
            <a:r>
              <a:rPr sz="1875" b="0">
                <a:solidFill>
                  <a:srgbClr val="1C1A19"/>
                </a:solidFill>
                <a:latin typeface="Nunito"/>
                <a:ea typeface="Nunito"/>
                <a:cs typeface="Nunito"/>
              </a:rPr>
              <a:t>Hey Alex!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pPr>
            <a:r>
              <a:rPr sz="1875" b="0">
                <a:solidFill>
                  <a:srgbClr val="1C1A19"/>
                </a:solidFill>
                <a:latin typeface="Nunito"/>
                <a:ea typeface="Nunito"/>
                <a:cs typeface="Nunito"/>
              </a:rPr>
              <a:t>I can't make it to dinner on Thursday. Can we take a rain check?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C182C-A26D-4F6F-965B-45CF4B43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38375"/>
            <a:ext cx="33909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500" b="1">
                <a:solidFill>
                  <a:srgbClr val="572C1C"/>
                </a:solidFill>
                <a:latin typeface="Nunito"/>
                <a:ea typeface="Nunito"/>
                <a:cs typeface="Nunito"/>
              </a:rPr>
              <a:t>Chris Morgan  /  Training session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C01B0-5A1A-4AFF-82F7-EAC0DCC2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47950"/>
            <a:ext cx="31623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pPr>
            <a:r>
              <a:rPr sz="1875" b="0">
                <a:solidFill>
                  <a:srgbClr val="1C1A19"/>
                </a:solidFill>
                <a:latin typeface="Nunito"/>
                <a:ea typeface="Nunito"/>
                <a:cs typeface="Nunito"/>
              </a:rPr>
              <a:t>Hi Alex,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pPr>
            <a:r>
              <a:rPr sz="1875" b="0">
                <a:solidFill>
                  <a:srgbClr val="1C1A19"/>
                </a:solidFill>
                <a:latin typeface="Nunito"/>
                <a:ea typeface="Nunito"/>
                <a:cs typeface="Nunito"/>
              </a:rPr>
              <a:t>Would it be possible to push our training session back to 3 p.m.? I've got another meeting at 1.</a:t>
            </a:r>
          </a:p>
        </p:txBody>
      </p:sp>
    </p:spTree>
    <p:extLst>
      <p:ext uri="{BB962C8B-B14F-4D97-AF65-F5344CB8AC3E}">
        <p14:creationId xmlns:p14="http://schemas.microsoft.com/office/powerpoint/2010/main" val="13628465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ABCC6-CC29-4990-BBB3-1FDBC9C6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200" b="1">
                <a:solidFill>
                  <a:srgbClr val="572C1C"/>
                </a:solidFill>
                <a:latin typeface="Nunito"/>
                <a:ea typeface="Nunito"/>
                <a:cs typeface="Nunito"/>
              </a:rPr>
              <a:t>LANGUAGE FOR THE GOAL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296F8-43BF-4D40-9DA7-5F49F643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572C1C"/>
                </a:solidFill>
                <a:latin typeface="Fredoka"/>
                <a:ea typeface="Fredoka"/>
                <a:cs typeface="Fredoka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572C1C"/>
                </a:solidFill>
                <a:latin typeface="Fredoka"/>
                <a:ea typeface="Fredoka"/>
                <a:cs typeface="Fredoka"/>
              </a:defRPr>
            </a:pPr>
            <a:r>
              <a:rPr sz="4500" b="1">
                <a:solidFill>
                  <a:srgbClr val="572C1C"/>
                </a:solidFill>
                <a:latin typeface="Fredoka"/>
                <a:ea typeface="Fredoka"/>
                <a:cs typeface="Fredoka"/>
              </a:rPr>
              <a:t>Chunks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38AFF-A6F8-47B3-ADE6-2202C7A7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2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04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F0B31-601E-44D6-9EA8-929DA170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285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Something came up.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284B0-BC34-439A-8F89-38C07732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285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I can’t make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AADAA-44A6-4274-B0A6-01BB9AD6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285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Can we take a rain check?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85978-6886-4CCE-9E85-A0F5596230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468d1a25641ab"/>
          <a:srcRect xmlns:a="http://schemas.openxmlformats.org/drawingml/2006/main" l="0" t="11689" r="0" b="116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2000250"/>
            <a:ext cx="3962400" cy="4048125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</p:spTree>
    <p:extLst>
      <p:ext uri="{BB962C8B-B14F-4D97-AF65-F5344CB8AC3E}">
        <p14:creationId xmlns:p14="http://schemas.microsoft.com/office/powerpoint/2010/main" val="7747326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03359-9188-4B03-9B8B-96503649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200" b="1">
                <a:solidFill>
                  <a:srgbClr val="572C1C"/>
                </a:solidFill>
                <a:latin typeface="Nunito"/>
                <a:ea typeface="Nunito"/>
                <a:cs typeface="Nunito"/>
              </a:rPr>
              <a:t>LANGUAGE FOR THE GOAL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A7AEA-A36A-4F68-9856-C9DF66E5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572C1C"/>
                </a:solidFill>
                <a:latin typeface="Fredoka"/>
                <a:ea typeface="Fredoka"/>
                <a:cs typeface="Fredoka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572C1C"/>
                </a:solidFill>
                <a:latin typeface="Fredoka"/>
                <a:ea typeface="Fredoka"/>
                <a:cs typeface="Fredoka"/>
              </a:defRPr>
            </a:pPr>
            <a:r>
              <a:rPr sz="4500" b="1">
                <a:solidFill>
                  <a:srgbClr val="572C1C"/>
                </a:solidFill>
                <a:latin typeface="Fredoka"/>
                <a:ea typeface="Fredoka"/>
                <a:cs typeface="Fredoka"/>
              </a:rPr>
              <a:t>Chunks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EB9B8-AD98-4602-BC08-BF9102B7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2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05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7BACD-92B2-48EC-A8BA-A9E8487F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285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Put it 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03596-2C90-4C8D-9C45-88C38436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285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Push it 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0D4CC-5F71-4B11-B206-E4B337E4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285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Move it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E23C6-3B7E-417E-A1E7-7764DBCD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285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Call it off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DBA90-9807-45BF-B3FD-2D7295B773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43b75b1bb4608"/>
          <a:srcRect xmlns:a="http://schemas.openxmlformats.org/drawingml/2006/main" l="0" t="11689" r="0" b="116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1952625"/>
            <a:ext cx="3962400" cy="4048125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</p:spTree>
    <p:extLst>
      <p:ext uri="{BB962C8B-B14F-4D97-AF65-F5344CB8AC3E}">
        <p14:creationId xmlns:p14="http://schemas.microsoft.com/office/powerpoint/2010/main" val="10258489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CA21B-96A7-4B7A-98E7-B8D43738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200" b="1">
                <a:solidFill>
                  <a:srgbClr val="572C1C"/>
                </a:solidFill>
                <a:latin typeface="Nunito"/>
                <a:ea typeface="Nunito"/>
                <a:cs typeface="Nunito"/>
              </a:rPr>
              <a:t>GRAMMAR FOR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16A8E-C527-4C4A-B9C3-17C00C80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572C1C"/>
                </a:solidFill>
                <a:latin typeface="Fredoka"/>
                <a:ea typeface="Fredoka"/>
                <a:cs typeface="Fredoka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572C1C"/>
                </a:solidFill>
                <a:latin typeface="Fredoka"/>
                <a:ea typeface="Fredoka"/>
                <a:cs typeface="Fredoka"/>
              </a:defRPr>
            </a:pPr>
            <a:r>
              <a:rPr sz="4500" b="1">
                <a:solidFill>
                  <a:srgbClr val="572C1C"/>
                </a:solidFill>
                <a:latin typeface="Fredoka"/>
                <a:ea typeface="Fredoka"/>
                <a:cs typeface="Fredoka"/>
              </a:rPr>
              <a:t>What fits each situation?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B1DDE-3C0C-4586-9AFB-1B9B2079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2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06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F9A2D-5353-4DD7-83B4-2D8AF64A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5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Match the sentences to their purpose. Explain your choices.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48841-2D57-4BF3-8AC6-7C9BD631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67151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pPr>
            <a:r>
              <a:rPr sz="2100" b="0">
                <a:solidFill>
                  <a:srgbClr val="1C1A19"/>
                </a:solidFill>
                <a:latin typeface="Nunito"/>
                <a:ea typeface="Nunito"/>
                <a:cs typeface="Nunito"/>
              </a:rPr>
              <a:t>A   Let’s put off the meeting until Friday.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pPr>
            <a:r>
              <a:rPr sz="2100" b="0">
                <a:solidFill>
                  <a:srgbClr val="1C1A19"/>
                </a:solidFill>
                <a:latin typeface="Nunito"/>
                <a:ea typeface="Nunito"/>
                <a:cs typeface="Nunito"/>
              </a:rPr>
              <a:t>B   Let’s call off the meeting.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pPr>
            <a:r>
              <a:rPr sz="2100" b="0">
                <a:solidFill>
                  <a:srgbClr val="1C1A19"/>
                </a:solidFill>
                <a:latin typeface="Nunito"/>
                <a:ea typeface="Nunito"/>
                <a:cs typeface="Nunito"/>
              </a:rPr>
              <a:t>C   Can we push the meeting back to 4?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pPr>
            <a:r>
              <a:rPr sz="2100" b="0">
                <a:solidFill>
                  <a:srgbClr val="1C1A19"/>
                </a:solidFill>
                <a:latin typeface="Nunito"/>
                <a:ea typeface="Nunito"/>
                <a:cs typeface="Nunito"/>
              </a:rPr>
              <a:t>D   Can we move the meeting up to 10?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8A7E5-21CE-4788-8652-4903290A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3571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21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1   An earlier 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21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2   A later 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21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3   Another day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21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4   No meeting</a:t>
            </a:r>
          </a:p>
        </p:txBody>
      </p:sp>
    </p:spTree>
    <p:extLst>
      <p:ext uri="{BB962C8B-B14F-4D97-AF65-F5344CB8AC3E}">
        <p14:creationId xmlns:p14="http://schemas.microsoft.com/office/powerpoint/2010/main" val="2890106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FBFEDB-C409-4B85-BBD6-827A80B7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200" b="1">
                <a:solidFill>
                  <a:srgbClr val="572C1C"/>
                </a:solidFill>
                <a:latin typeface="Nunito"/>
                <a:ea typeface="Nunito"/>
                <a:cs typeface="Nunito"/>
              </a:rPr>
              <a:t>CONTROLLED PRACTICE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75E70-130F-4201-95D4-48B877B6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572C1C"/>
                </a:solidFill>
                <a:latin typeface="Fredoka"/>
                <a:ea typeface="Fredoka"/>
                <a:cs typeface="Fredoka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572C1C"/>
                </a:solidFill>
                <a:latin typeface="Fredoka"/>
                <a:ea typeface="Fredoka"/>
                <a:cs typeface="Fredoka"/>
              </a:defRPr>
            </a:pPr>
            <a:r>
              <a:rPr sz="4500" b="1">
                <a:solidFill>
                  <a:srgbClr val="572C1C"/>
                </a:solidFill>
                <a:latin typeface="Fredoka"/>
                <a:ea typeface="Fredoka"/>
                <a:cs typeface="Fredoka"/>
              </a:rPr>
              <a:t>What’s the best response?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38E4F-A5A7-494B-AF6A-C8546911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2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07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5F7F1-ECC2-4278-A2C9-171372DE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5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Choose a reply that fits the situation.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1BB49-5AF0-407F-9D57-C1BA34A6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950" b="1">
                <a:solidFill>
                  <a:srgbClr val="572C1C"/>
                </a:solidFill>
                <a:latin typeface="Nunito"/>
                <a:ea typeface="Nunito"/>
                <a:cs typeface="Nunito"/>
              </a:rPr>
              <a:t>1   You have an unexpected problem.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2CD5A-6603-42C8-900B-081BD6D4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pPr>
            <a:r>
              <a:rPr sz="1950" b="0">
                <a:solidFill>
                  <a:srgbClr val="1C1A19"/>
                </a:solidFill>
                <a:latin typeface="Nunito"/>
                <a:ea typeface="Nunito"/>
                <a:cs typeface="Nunito"/>
              </a:rPr>
              <a:t>Something came up. / Let’s move it up.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C5E2D-E64E-49E1-B2B2-D8590A2B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950" b="1">
                <a:solidFill>
                  <a:srgbClr val="572C1C"/>
                </a:solidFill>
                <a:latin typeface="Nunito"/>
                <a:ea typeface="Nunito"/>
                <a:cs typeface="Nunito"/>
              </a:rPr>
              <a:t>2   The meeting changes from 2 p.m. to 4 p.m.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7BD49-4502-449C-8682-1B9B688E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pPr>
            <a:r>
              <a:rPr sz="1950" b="0">
                <a:solidFill>
                  <a:srgbClr val="1C1A19"/>
                </a:solidFill>
                <a:latin typeface="Nunito"/>
                <a:ea typeface="Nunito"/>
                <a:cs typeface="Nunito"/>
              </a:rPr>
              <a:t>Can we move it up? / Can we push it back?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771DC-CF92-4EA3-A2C0-D6CC5367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950" b="1">
                <a:solidFill>
                  <a:srgbClr val="572C1C"/>
                </a:solidFill>
                <a:latin typeface="Nunito"/>
                <a:ea typeface="Nunito"/>
                <a:cs typeface="Nunito"/>
              </a:rPr>
              <a:t>3   You want to accept a dinner invitation another day.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DD6CC-5430-4602-976F-AA66E811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pPr>
            <a:r>
              <a:rPr sz="1950" b="0">
                <a:solidFill>
                  <a:srgbClr val="1C1A19"/>
                </a:solidFill>
                <a:latin typeface="Nunito"/>
                <a:ea typeface="Nunito"/>
                <a:cs typeface="Nunito"/>
              </a:rPr>
              <a:t>Can we take a rain check? / We need to call it off.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AAD3E-624E-4D3B-A283-270EEE76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950" b="1">
                <a:solidFill>
                  <a:srgbClr val="572C1C"/>
                </a:solidFill>
                <a:latin typeface="Nunito"/>
                <a:ea typeface="Nunito"/>
                <a:cs typeface="Nunito"/>
              </a:rPr>
              <a:t>4   The event will not happen anymore.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E3EC6-16DF-4E16-8188-FFF6E467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pPr>
            <a:r>
              <a:rPr sz="1950" b="0">
                <a:solidFill>
                  <a:srgbClr val="1C1A19"/>
                </a:solidFill>
                <a:latin typeface="Nunito"/>
                <a:ea typeface="Nunito"/>
                <a:cs typeface="Nunito"/>
              </a:rPr>
              <a:t>Let’s put it off. / We need to call it off.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822871-BF5F-41D8-83E0-21FAE961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950" b="1">
                <a:solidFill>
                  <a:srgbClr val="572C1C"/>
                </a:solidFill>
                <a:latin typeface="Nunito"/>
                <a:ea typeface="Nunito"/>
                <a:cs typeface="Nunito"/>
              </a:rPr>
              <a:t>5   The training changes from 3 p.m. to 11 a.m.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23F4C-1BF2-4166-B753-64329704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578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pPr>
            <a:r>
              <a:rPr sz="1950" b="0">
                <a:solidFill>
                  <a:srgbClr val="1C1A19"/>
                </a:solidFill>
                <a:latin typeface="Nunito"/>
                <a:ea typeface="Nunito"/>
                <a:cs typeface="Nunito"/>
              </a:rPr>
              <a:t>Could we move it up? / Could we push it back?</a:t>
            </a:r>
          </a:p>
        </p:txBody>
      </p:sp>
    </p:spTree>
    <p:extLst>
      <p:ext uri="{BB962C8B-B14F-4D97-AF65-F5344CB8AC3E}">
        <p14:creationId xmlns:p14="http://schemas.microsoft.com/office/powerpoint/2010/main" val="15153668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857375-264D-49B8-BB52-D6E962C0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200" b="1">
                <a:solidFill>
                  <a:srgbClr val="572C1C"/>
                </a:solidFill>
                <a:latin typeface="Nunito"/>
                <a:ea typeface="Nunito"/>
                <a:cs typeface="Nunito"/>
              </a:rPr>
              <a:t>CONTROLLED PRACTICE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04E13-EE08-4C7E-BA31-3CDB9AE3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572C1C"/>
                </a:solidFill>
                <a:latin typeface="Fredoka"/>
                <a:ea typeface="Fredoka"/>
                <a:cs typeface="Fredoka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572C1C"/>
                </a:solidFill>
                <a:latin typeface="Fredoka"/>
                <a:ea typeface="Fredoka"/>
                <a:cs typeface="Fredoka"/>
              </a:defRPr>
            </a:pPr>
            <a:r>
              <a:rPr sz="4500" b="1">
                <a:solidFill>
                  <a:srgbClr val="572C1C"/>
                </a:solidFill>
                <a:latin typeface="Fredoka"/>
                <a:ea typeface="Fredoka"/>
                <a:cs typeface="Fredoka"/>
              </a:rPr>
              <a:t>Change the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B7E6D-A28A-403F-BA50-A17DAD45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2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08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D5175-232F-4B2E-9051-786F1FD3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5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Rewrite each message with the expression shown. Keep the meaning.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E213D-9122-426F-A1B1-30442FC1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pPr>
            <a:r>
              <a:rPr sz="2100" b="0">
                <a:solidFill>
                  <a:srgbClr val="1C1A19"/>
                </a:solidFill>
                <a:latin typeface="Nunito"/>
                <a:ea typeface="Nunito"/>
                <a:cs typeface="Nunito"/>
              </a:rPr>
              <a:t>1   Can we have the meeting at 4 instead of 2?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C82F8-11C0-4FC4-9B63-27883551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500" b="1">
                <a:solidFill>
                  <a:srgbClr val="572C1C"/>
                </a:solidFill>
                <a:latin typeface="Nunito"/>
                <a:ea typeface="Nunito"/>
                <a:cs typeface="Nunito"/>
              </a:rPr>
              <a:t>push 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AFB6F-83F5-4391-A4E8-A3A10310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pPr>
            <a:r>
              <a:rPr sz="2100" b="0">
                <a:solidFill>
                  <a:srgbClr val="1C1A19"/>
                </a:solidFill>
                <a:latin typeface="Nunito"/>
                <a:ea typeface="Nunito"/>
                <a:cs typeface="Nunito"/>
              </a:rPr>
              <a:t>2   Let’s cancel the presentation.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2031E4-6BDD-4EC4-AF84-0FC61C36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04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500" b="1">
                <a:solidFill>
                  <a:srgbClr val="572C1C"/>
                </a:solidFill>
                <a:latin typeface="Nunito"/>
                <a:ea typeface="Nunito"/>
                <a:cs typeface="Nunito"/>
              </a:rPr>
              <a:t>call 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022C9-0E2E-4FF7-86E3-328459EE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pPr>
            <a:r>
              <a:rPr sz="2100" b="0">
                <a:solidFill>
                  <a:srgbClr val="1C1A19"/>
                </a:solidFill>
                <a:latin typeface="Nunito"/>
                <a:ea typeface="Nunito"/>
                <a:cs typeface="Nunito"/>
              </a:rPr>
              <a:t>3   Can we meet at 10 instead of 11?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6B382-3526-4FA1-AA0B-656756F4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33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500" b="1">
                <a:solidFill>
                  <a:srgbClr val="572C1C"/>
                </a:solidFill>
                <a:latin typeface="Nunito"/>
                <a:ea typeface="Nunito"/>
                <a:cs typeface="Nunito"/>
              </a:rPr>
              <a:t>move 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0F7A3B-9B1A-4DFA-BF26-BCEDCCC2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pPr>
            <a:r>
              <a:rPr sz="2100" b="0">
                <a:solidFill>
                  <a:srgbClr val="1C1A19"/>
                </a:solidFill>
                <a:latin typeface="Nunito"/>
                <a:ea typeface="Nunito"/>
                <a:cs typeface="Nunito"/>
              </a:rPr>
              <a:t>4   I can’t go to dinner tonight, but I’d love to go another day.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CB214C-7043-4ABC-98B9-A5D16301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673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500" b="1">
                <a:solidFill>
                  <a:srgbClr val="572C1C"/>
                </a:solidFill>
                <a:latin typeface="Nunito"/>
                <a:ea typeface="Nunito"/>
                <a:cs typeface="Nunito"/>
              </a:rPr>
              <a:t>take a rain check</a:t>
            </a:r>
          </a:p>
        </p:txBody>
      </p:sp>
    </p:spTree>
    <p:extLst>
      <p:ext uri="{BB962C8B-B14F-4D97-AF65-F5344CB8AC3E}">
        <p14:creationId xmlns:p14="http://schemas.microsoft.com/office/powerpoint/2010/main" val="2977676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8704D-B3D0-4156-92F5-8F9285C8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200" b="1">
                <a:solidFill>
                  <a:srgbClr val="572C1C"/>
                </a:solidFill>
                <a:latin typeface="Nunito"/>
                <a:ea typeface="Nunito"/>
                <a:cs typeface="Nunito"/>
              </a:rPr>
              <a:t>FREE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D2F96-5711-41DD-A6C9-A32528F8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572C1C"/>
                </a:solidFill>
                <a:latin typeface="Fredoka"/>
                <a:ea typeface="Fredoka"/>
                <a:cs typeface="Fredoka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572C1C"/>
                </a:solidFill>
                <a:latin typeface="Fredoka"/>
                <a:ea typeface="Fredoka"/>
                <a:cs typeface="Fredoka"/>
              </a:defRPr>
            </a:pPr>
            <a:r>
              <a:rPr sz="4500" b="1">
                <a:solidFill>
                  <a:srgbClr val="572C1C"/>
                </a:solidFill>
                <a:latin typeface="Fredoka"/>
                <a:ea typeface="Fredoka"/>
                <a:cs typeface="Fredoka"/>
              </a:rPr>
              <a:t>What would you do?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EB10F-CFCF-4E2C-91BE-E7F214A8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2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09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44762-02D8-4848-802B-C22C13F7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5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Choose what to change. Explain why and talk to the person involved.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1A84C-CEAC-4B9D-9161-8D4BDEBF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24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A   A client meeting and an urgent meeting with your manager both start at 2 p.m.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764C5-0F55-42E4-8C71-FDF1192B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24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B   A friend invites you to dinner tonight. You’re exhausted and want to stay home.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7FCEC-0AF5-4A76-BC04-9227C373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24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C   Your trainer is sick. Nobody can replace them. Would you postpone or cancel?</a:t>
            </a:r>
          </a:p>
        </p:txBody>
      </p:sp>
    </p:spTree>
    <p:extLst>
      <p:ext uri="{BB962C8B-B14F-4D97-AF65-F5344CB8AC3E}">
        <p14:creationId xmlns:p14="http://schemas.microsoft.com/office/powerpoint/2010/main" val="597159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719917-E7DF-4E73-97DD-98AF86ED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200" b="1">
                <a:solidFill>
                  <a:srgbClr val="572C1C"/>
                </a:solidFill>
                <a:latin typeface="Nunito"/>
                <a:ea typeface="Nunito"/>
                <a:cs typeface="Nunito"/>
              </a:rPr>
              <a:t>MISSION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DF74B-2D81-4837-954C-9EA3E086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572C1C"/>
                </a:solidFill>
                <a:latin typeface="Fredoka"/>
                <a:ea typeface="Fredoka"/>
                <a:cs typeface="Fredoka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572C1C"/>
                </a:solidFill>
                <a:latin typeface="Fredoka"/>
                <a:ea typeface="Fredoka"/>
                <a:cs typeface="Fredoka"/>
              </a:defRPr>
            </a:pPr>
            <a:r>
              <a:rPr sz="4500" b="1">
                <a:solidFill>
                  <a:srgbClr val="572C1C"/>
                </a:solidFill>
                <a:latin typeface="Fredoka"/>
                <a:ea typeface="Fredoka"/>
                <a:cs typeface="Fredoka"/>
              </a:rPr>
              <a:t>Save the schedule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CEE1D-503F-4CE0-84EC-38D43FD3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2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10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62D6B-1AED-4036-AE00-C6A58CBA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5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Contact the people involved. Agree on an updated calendar and explain the changes to your manager.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26B90-1627-4D79-8D3A-2795BA76D144}"/>
              </a:ext>
            </a:extLst>
          </p:cNvPr>
          <p:cNvGraphicFramePr/>
          <p:nvPr/>
        </p:nvGraphicFramePr>
        <p:xfrm>
          <a:off xmlns:a="http://schemas.openxmlformats.org/drawingml/2006/main" x="609600" y="2457450"/>
          <a:ext xmlns:a="http://schemas.openxmlformats.org/drawingml/2006/main" cx="428625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3143250"/>
              </a:tblGrid>
              <a:tr h="51979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72C1C"/>
                          </a:solidFill>
                          <a:latin typeface="Nunito"/>
                          <a:ea typeface="Nunito"/>
                          <a:cs typeface="Nunito"/>
                        </a:rPr>
                        <a:t>TIME</a:t>
                      </a:r>
                    </a:p>
                  </a:txBody>
                  <a:tcPr marL="91440" marR="91440" marT="45720" marB="45720">
                    <a:solidFill>
                      <a:srgbClr val="FFBD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72C1C"/>
                          </a:solidFill>
                          <a:latin typeface="Nunito"/>
                          <a:ea typeface="Nunito"/>
                          <a:cs typeface="Nunito"/>
                        </a:rPr>
                        <a:t>TODAY</a:t>
                      </a:r>
                    </a:p>
                  </a:txBody>
                  <a:tcPr marL="91440" marR="91440" marT="45720" marB="45720">
                    <a:solidFill>
                      <a:srgbClr val="FFBD59"/>
                    </a:solidFill>
                  </a:tcPr>
                </a:tc>
              </a:tr>
              <a:tr h="51979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72C1C"/>
                          </a:solidFill>
                          <a:latin typeface="Nunito"/>
                          <a:ea typeface="Nunito"/>
                          <a:cs typeface="Nunito"/>
                        </a:rPr>
                        <a:t>10:00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72C1C"/>
                          </a:solidFill>
                          <a:latin typeface="Nunito"/>
                          <a:ea typeface="Nunito"/>
                          <a:cs typeface="Nunito"/>
                        </a:rPr>
                        <a:t>Team meeting</a:t>
                      </a:r>
                    </a:p>
                  </a:txBody>
                  <a:tcPr marL="91440" marR="91440" marT="45720" marB="45720">
                    <a:solidFill>
                      <a:srgbClr val="FFF3DE"/>
                    </a:solidFill>
                  </a:tcPr>
                </a:tc>
              </a:tr>
              <a:tr h="51979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72C1C"/>
                          </a:solidFill>
                          <a:latin typeface="Nunito"/>
                          <a:ea typeface="Nunito"/>
                          <a:cs typeface="Nunito"/>
                        </a:rPr>
                        <a:t>11:30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72C1C"/>
                          </a:solidFill>
                          <a:latin typeface="Nunito"/>
                          <a:ea typeface="Nunito"/>
                          <a:cs typeface="Nunito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979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72C1C"/>
                          </a:solidFill>
                          <a:latin typeface="Nunito"/>
                          <a:ea typeface="Nunito"/>
                          <a:cs typeface="Nunito"/>
                        </a:rPr>
                        <a:t>14:00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72C1C"/>
                          </a:solidFill>
                          <a:latin typeface="Nunito"/>
                          <a:ea typeface="Nunito"/>
                          <a:cs typeface="Nunito"/>
                        </a:rPr>
                        <a:t>Client presentation</a:t>
                      </a:r>
                    </a:p>
                  </a:txBody>
                  <a:tcPr marL="91440" marR="91440" marT="45720" marB="45720">
                    <a:solidFill>
                      <a:srgbClr val="FFF3DE"/>
                    </a:solidFill>
                  </a:tcPr>
                </a:tc>
              </a:tr>
              <a:tr h="51979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72C1C"/>
                          </a:solidFill>
                          <a:latin typeface="Nunito"/>
                          <a:ea typeface="Nunito"/>
                          <a:cs typeface="Nunito"/>
                        </a:rPr>
                        <a:t>15:30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72C1C"/>
                          </a:solidFill>
                          <a:latin typeface="Nunito"/>
                          <a:ea typeface="Nunito"/>
                          <a:cs typeface="Nunito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979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72C1C"/>
                          </a:solidFill>
                          <a:latin typeface="Nunito"/>
                          <a:ea typeface="Nunito"/>
                          <a:cs typeface="Nunito"/>
                        </a:rPr>
                        <a:t>16:00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72C1C"/>
                          </a:solidFill>
                          <a:latin typeface="Nunito"/>
                          <a:ea typeface="Nunito"/>
                          <a:cs typeface="Nunito"/>
                        </a:rPr>
                        <a:t>Training session</a:t>
                      </a:r>
                    </a:p>
                  </a:txBody>
                  <a:tcPr marL="91440" marR="91440" marT="45720" marB="45720">
                    <a:solidFill>
                      <a:srgbClr val="FFF3DE"/>
                    </a:solidFill>
                  </a:tcPr>
                </a:tc>
              </a:tr>
              <a:tr h="51979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72C1C"/>
                          </a:solidFill>
                          <a:latin typeface="Nunito"/>
                          <a:ea typeface="Nunito"/>
                          <a:cs typeface="Nunito"/>
                        </a:rPr>
                        <a:t>19:30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72C1C"/>
                          </a:solidFill>
                          <a:latin typeface="Nunito"/>
                          <a:ea typeface="Nunito"/>
                          <a:cs typeface="Nunito"/>
                        </a:rPr>
                        <a:t>Dinner with a friend</a:t>
                      </a:r>
                    </a:p>
                  </a:txBody>
                  <a:tcPr marL="91440" marR="91440" marT="45720" marB="45720">
                    <a:solidFill>
                      <a:srgbClr val="FFF3D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C1134-4705-420A-A820-78C96180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457450"/>
            <a:ext cx="29241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500" b="1">
                <a:solidFill>
                  <a:srgbClr val="572C1C"/>
                </a:solidFill>
                <a:latin typeface="Nunito"/>
                <a:ea typeface="Nunito"/>
                <a:cs typeface="Nunito"/>
              </a:rPr>
              <a:t>Manager  /  Team meeting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10D62-C795-4C50-A61C-8D8AE1BC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867025"/>
            <a:ext cx="26955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1C1A19"/>
                </a:solidFill>
                <a:latin typeface="Nunito"/>
                <a:ea typeface="Nunito"/>
                <a:cs typeface="Nunito"/>
              </a:rPr>
              <a:t>Hi Alex,</a:t>
            </a:r>
          </a:p>
          <a:p xmlns:a="http://schemas.openxmlformats.org/drawingml/2006/main">
            <a:pPr>
              <a:defRPr sz="165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1C1A19"/>
                </a:solidFill>
                <a:latin typeface="Nunito"/>
                <a:ea typeface="Nunito"/>
                <a:cs typeface="Nunito"/>
              </a:rPr>
              <a:t>I need the team at 10 a.m. today.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1BCA7-B24B-43FE-AF90-9D046A54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57450"/>
            <a:ext cx="29241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500" b="1">
                <a:solidFill>
                  <a:srgbClr val="572C1C"/>
                </a:solidFill>
                <a:latin typeface="Nunito"/>
                <a:ea typeface="Nunito"/>
                <a:cs typeface="Nunito"/>
              </a:rPr>
              <a:t>Client  / 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E8A12-5AD3-4CFD-9700-032DF310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867025"/>
            <a:ext cx="26955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1C1A19"/>
                </a:solidFill>
                <a:latin typeface="Nunito"/>
                <a:ea typeface="Nunito"/>
                <a:cs typeface="Nunito"/>
              </a:rPr>
              <a:t>Hi Alex,</a:t>
            </a:r>
          </a:p>
          <a:p xmlns:a="http://schemas.openxmlformats.org/drawingml/2006/main">
            <a:pPr>
              <a:defRPr sz="165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1C1A19"/>
                </a:solidFill>
                <a:latin typeface="Nunito"/>
                <a:ea typeface="Nunito"/>
                <a:cs typeface="Nunito"/>
              </a:rPr>
              <a:t>I can’t attend at 2 p.m. I’m free at 3:30 p.m.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F5BBBE-DC2F-4AF9-A4FC-CFEED157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81500"/>
            <a:ext cx="29241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500" b="1">
                <a:solidFill>
                  <a:srgbClr val="572C1C"/>
                </a:solidFill>
                <a:latin typeface="Nunito"/>
                <a:ea typeface="Nunito"/>
                <a:cs typeface="Nunito"/>
              </a:rPr>
              <a:t>Trainer  /  Training session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071F7-C04B-43EA-837C-6520F7FA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791075"/>
            <a:ext cx="26955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1C1A19"/>
                </a:solidFill>
                <a:latin typeface="Nunito"/>
                <a:ea typeface="Nunito"/>
                <a:cs typeface="Nunito"/>
              </a:rPr>
              <a:t>Hi Alex,</a:t>
            </a:r>
          </a:p>
          <a:p xmlns:a="http://schemas.openxmlformats.org/drawingml/2006/main">
            <a:pPr>
              <a:defRPr sz="165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1C1A19"/>
                </a:solidFill>
                <a:latin typeface="Nunito"/>
                <a:ea typeface="Nunito"/>
                <a:cs typeface="Nunito"/>
              </a:rPr>
              <a:t>I need to leave at 4 p.m. I’m available at 11:30 a.m.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673714-61A2-42B3-A359-720C5913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381500"/>
            <a:ext cx="29241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500" b="1">
                <a:solidFill>
                  <a:srgbClr val="572C1C"/>
                </a:solidFill>
                <a:latin typeface="Nunito"/>
                <a:ea typeface="Nunito"/>
                <a:cs typeface="Nunito"/>
              </a:rPr>
              <a:t>Friend  /  Dinner tonight?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9134C-A92C-442E-ABF1-95BA7636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791075"/>
            <a:ext cx="26955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1C1A19"/>
                </a:solidFill>
                <a:latin typeface="Nunito"/>
                <a:ea typeface="Nunito"/>
                <a:cs typeface="Nunito"/>
              </a:rPr>
              <a:t>Hey Alex,</a:t>
            </a:r>
          </a:p>
          <a:p xmlns:a="http://schemas.openxmlformats.org/drawingml/2006/main">
            <a:pPr>
              <a:defRPr sz="1650" b="0">
                <a:solidFill>
                  <a:srgbClr val="1C1A19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1C1A19"/>
                </a:solidFill>
                <a:latin typeface="Nunito"/>
                <a:ea typeface="Nunito"/>
                <a:cs typeface="Nunito"/>
              </a:rPr>
              <a:t>Are you still coming at 7:30 tonight?</a:t>
            </a:r>
          </a:p>
        </p:txBody>
      </p:sp>
    </p:spTree>
    <p:extLst>
      <p:ext uri="{BB962C8B-B14F-4D97-AF65-F5344CB8AC3E}">
        <p14:creationId xmlns:p14="http://schemas.microsoft.com/office/powerpoint/2010/main" val="12759794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10016-40EB-4F58-89B7-659F0F8E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200" b="1">
                <a:solidFill>
                  <a:srgbClr val="572C1C"/>
                </a:solidFill>
                <a:latin typeface="Nunito"/>
                <a:ea typeface="Nunito"/>
                <a:cs typeface="Nunito"/>
              </a:rPr>
              <a:t>RECAP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B3733-0487-4A52-884C-B0F66604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572C1C"/>
                </a:solidFill>
                <a:latin typeface="Fredoka"/>
                <a:ea typeface="Fredoka"/>
                <a:cs typeface="Fredoka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572C1C"/>
                </a:solidFill>
                <a:latin typeface="Fredoka"/>
                <a:ea typeface="Fredoka"/>
                <a:cs typeface="Fredoka"/>
              </a:defRPr>
            </a:pPr>
            <a:r>
              <a:rPr sz="4500" b="1">
                <a:solidFill>
                  <a:srgbClr val="572C1C"/>
                </a:solidFill>
                <a:latin typeface="Fredoka"/>
                <a:ea typeface="Fredoka"/>
                <a:cs typeface="Fredoka"/>
              </a:rPr>
              <a:t>Can we make it work?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43C9F-D339-46FF-95A5-1971AFDB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2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11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46ABD-7BB6-43E7-9707-1D26CFC3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5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Respond without looking at your notes.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906BA-459F-4C7B-8321-F5DB0E0F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24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1   Your meeting is too early.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EB1D6-EF26-4425-AB53-000AA113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24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2   Your meeting is too late.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31703-8B2D-49B7-A15A-E02AC721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24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3   You can’t attend dinner, but want to meet another day.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16F33-9D9C-4E8F-94C2-65377457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24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4   Something unexpected happened.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7FA5F-8A83-47F9-9DE5-795CD0DA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24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5   The event will not happen anymore.</a:t>
            </a:r>
          </a:p>
        </p:txBody>
      </p:sp>
    </p:spTree>
    <p:extLst>
      <p:ext uri="{BB962C8B-B14F-4D97-AF65-F5344CB8AC3E}">
        <p14:creationId xmlns:p14="http://schemas.microsoft.com/office/powerpoint/2010/main" val="15901368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8D798-E464-48AC-A906-FEE89ACD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200" b="1">
                <a:solidFill>
                  <a:srgbClr val="572C1C"/>
                </a:solidFill>
                <a:latin typeface="Nunito"/>
                <a:ea typeface="Nunito"/>
                <a:cs typeface="Nunito"/>
              </a:rPr>
              <a:t>RECAP / ANSWERS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95164-00BA-4870-856C-1C9BE53C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572C1C"/>
                </a:solidFill>
                <a:latin typeface="Fredoka"/>
                <a:ea typeface="Fredoka"/>
                <a:cs typeface="Fredoka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572C1C"/>
                </a:solidFill>
                <a:latin typeface="Fredoka"/>
                <a:ea typeface="Fredoka"/>
                <a:cs typeface="Fredoka"/>
              </a:defRPr>
            </a:pPr>
            <a:r>
              <a:rPr sz="4500" b="1">
                <a:solidFill>
                  <a:srgbClr val="572C1C"/>
                </a:solidFill>
                <a:latin typeface="Fredoka"/>
                <a:ea typeface="Fredoka"/>
                <a:cs typeface="Fredoka"/>
              </a:rPr>
              <a:t>Possible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0A6EA-3873-445F-8553-93C8F391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2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12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48190-5138-49B6-836D-3D45977B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15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Compare your reply with these examples.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B12F7-4AE4-417E-AEE2-9F8CFF31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24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1   Could we push it back?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8FE5E-619F-4AF2-BB6C-29939E83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24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2   Could we move it up?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E2C4A-0DBD-498D-B861-8F270B5A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24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3   I can’t make it. Can we take a rain check?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CEC63-AD5D-486C-B4E9-A92026ED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24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4   Something came 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C9DCA-DEC4-42CE-A550-C94CC743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72C1C"/>
                </a:solidFill>
                <a:latin typeface="Nunito"/>
                <a:ea typeface="Nunito"/>
                <a:cs typeface="Nunito"/>
              </a:defRPr>
            </a:pPr>
            <a:r>
              <a:rPr sz="2400" b="0">
                <a:solidFill>
                  <a:srgbClr val="572C1C"/>
                </a:solidFill>
                <a:latin typeface="Nunito"/>
                <a:ea typeface="Nunito"/>
                <a:cs typeface="Nunito"/>
              </a:rPr>
              <a:t>5   We need to call it off.</a:t>
            </a:r>
          </a:p>
        </p:txBody>
      </p:sp>
    </p:spTree>
    <p:extLst>
      <p:ext uri="{BB962C8B-B14F-4D97-AF65-F5344CB8AC3E}">
        <p14:creationId xmlns:p14="http://schemas.microsoft.com/office/powerpoint/2010/main" val="12061149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BDB02-81E5-4F44-A159-D3348DC1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4500" b="1">
                <a:solidFill>
                  <a:srgbClr val="572C1C"/>
                </a:solidFill>
                <a:latin typeface="Fredoka"/>
                <a:ea typeface="Fredoka"/>
                <a:cs typeface="Fredoka"/>
              </a:defRPr>
            </a:defPPr>
          </a:lstStyle>
          <a:p xmlns:a="http://schemas.openxmlformats.org/drawingml/2006/main">
            <a:pPr algn="ctr">
              <a:defRPr sz="4500" b="1">
                <a:solidFill>
                  <a:srgbClr val="572C1C"/>
                </a:solidFill>
                <a:latin typeface="Fredoka"/>
                <a:ea typeface="Fredoka"/>
                <a:cs typeface="Fredoka"/>
              </a:defRPr>
            </a:pPr>
            <a:r>
              <a:rPr sz="4500" b="1">
                <a:solidFill>
                  <a:srgbClr val="572C1C"/>
                </a:solidFill>
                <a:latin typeface="Fredoka"/>
                <a:ea typeface="Fredoka"/>
                <a:cs typeface="Fredoka"/>
              </a:rPr>
              <a:t>I’m glad to have you here</a:t>
            </a:r>
          </a:p>
        </p:txBody>
      </p:sp>
    </p:spTree>
    <p:extLst>
      <p:ext uri="{BB962C8B-B14F-4D97-AF65-F5344CB8AC3E}">
        <p14:creationId xmlns:p14="http://schemas.microsoft.com/office/powerpoint/2010/main" val="4612654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2026-10-12T17:23:55.5190000Z</dcterms:created>
  <dcterms:modified xsi:type="dcterms:W3CDTF">2026-10-12T17:23:55.5190000Z</dcterms:modified>
</coreProperties>
</file>